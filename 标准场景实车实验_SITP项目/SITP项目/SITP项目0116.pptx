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4"/>
  </p:sldMasterIdLst>
  <p:notesMasterIdLst>
    <p:notesMasterId r:id="rId14"/>
  </p:notesMasterIdLst>
  <p:handoutMasterIdLst>
    <p:handoutMasterId r:id="rId15"/>
  </p:handoutMasterIdLst>
  <p:sldIdLst>
    <p:sldId id="322" r:id="rId5"/>
    <p:sldId id="855" r:id="rId6"/>
    <p:sldId id="2007578562" r:id="rId7"/>
    <p:sldId id="2007578637" r:id="rId8"/>
    <p:sldId id="2007578635" r:id="rId9"/>
    <p:sldId id="2007578638" r:id="rId10"/>
    <p:sldId id="2007578634" r:id="rId11"/>
    <p:sldId id="2007578633" r:id="rId12"/>
    <p:sldId id="2007578632" r:id="rId13"/>
  </p:sldIdLst>
  <p:sldSz cx="12192000" cy="6858000"/>
  <p:notesSz cx="6797675" cy="9928225"/>
  <p:embeddedFontLst>
    <p:embeddedFont>
      <p:font typeface="Corbel Light" panose="020B0303020204020204" pitchFamily="34" charset="0"/>
      <p:regular r:id="rId16"/>
      <p:italic r:id="rId17"/>
    </p:embeddedFont>
    <p:embeddedFont>
      <p:font typeface="Gabriola" panose="04040605051002020D02" pitchFamily="82" charset="0"/>
      <p:regular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  <p:embeddedFont>
      <p:font typeface="黑体" panose="02010609060101010101" pitchFamily="49" charset="-122"/>
      <p:regular r:id="rId22"/>
    </p:embeddedFont>
    <p:embeddedFont>
      <p:font typeface="微软雅黑" panose="020B0503020204020204" pitchFamily="34" charset="-122"/>
      <p:regular r:id="rId23"/>
      <p:bold r:id="rId24"/>
    </p:embeddedFont>
    <p:embeddedFont>
      <p:font typeface="微软雅黑" panose="020B0503020204020204" pitchFamily="34" charset="-122"/>
      <p:regular r:id="rId23"/>
      <p:bold r:id="rId24"/>
    </p:embeddedFont>
  </p:embeddedFontLst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orient="horz" pos="1049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302" userDrawn="1">
          <p15:clr>
            <a:srgbClr val="A4A3A4"/>
          </p15:clr>
        </p15:guide>
        <p15:guide id="5" pos="2638" userDrawn="1">
          <p15:clr>
            <a:srgbClr val="A4A3A4"/>
          </p15:clr>
        </p15:guide>
        <p15:guide id="6" pos="3318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4793" userDrawn="1">
          <p15:clr>
            <a:srgbClr val="A4A3A4"/>
          </p15:clr>
        </p15:guide>
        <p15:guide id="9" pos="5541" userDrawn="1">
          <p15:clr>
            <a:srgbClr val="A4A3A4"/>
          </p15:clr>
        </p15:guide>
        <p15:guide id="10" pos="6357" userDrawn="1">
          <p15:clr>
            <a:srgbClr val="A4A3A4"/>
          </p15:clr>
        </p15:guide>
        <p15:guide id="11" pos="7378" userDrawn="1">
          <p15:clr>
            <a:srgbClr val="A4A3A4"/>
          </p15:clr>
        </p15:guide>
        <p15:guide id="12" orient="horz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A7A"/>
    <a:srgbClr val="F1F1F1"/>
    <a:srgbClr val="FAFAFA"/>
    <a:srgbClr val="E5E5E5"/>
    <a:srgbClr val="6F89A7"/>
    <a:srgbClr val="F0F0F0"/>
    <a:srgbClr val="FFFFFF"/>
    <a:srgbClr val="D6DCE5"/>
    <a:srgbClr val="FFF2CC"/>
    <a:srgbClr val="75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092" autoAdjust="0"/>
    <p:restoredTop sz="96123" autoAdjust="0"/>
  </p:normalViewPr>
  <p:slideViewPr>
    <p:cSldViewPr snapToGrid="0">
      <p:cViewPr varScale="1">
        <p:scale>
          <a:sx n="76" d="100"/>
          <a:sy n="76" d="100"/>
        </p:scale>
        <p:origin x="69" y="558"/>
      </p:cViewPr>
      <p:guideLst>
        <p:guide orient="horz" pos="1344"/>
        <p:guide orient="horz" pos="1049"/>
        <p:guide pos="166"/>
        <p:guide pos="302"/>
        <p:guide pos="2638"/>
        <p:guide pos="3318"/>
        <p:guide pos="3840"/>
        <p:guide pos="4793"/>
        <p:guide pos="5541"/>
        <p:guide pos="6357"/>
        <p:guide pos="7378"/>
        <p:guide orient="horz" pos="383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70" d="100"/>
        <a:sy n="170" d="100"/>
      </p:scale>
      <p:origin x="0" y="-58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>
              <a:defRPr sz="1300"/>
            </a:lvl1pPr>
          </a:lstStyle>
          <a:p>
            <a:fld id="{0F9B84EA-7D68-4D60-9CB1-D50884785D1C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r">
              <a:defRPr sz="13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77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>
              <a:defRPr sz="1300"/>
            </a:lvl1pPr>
          </a:lstStyle>
          <a:p>
            <a:fld id="{D2A48B96-639E-45A3-A0BA-2464DFDB1FAA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5571" tIns="47786" rIns="95571" bIns="47786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2"/>
            <a:ext cx="2945659" cy="498134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2"/>
            <a:ext cx="2945659" cy="498134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r">
              <a:defRPr sz="13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25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61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846D5-6E7A-737F-BA7B-C12DEA73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F1026C-8F37-7723-A481-0D0214E45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55D0F6-FB20-F8C7-4728-18276F4DA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3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CC7A9D-E2F4-5372-101C-402F801894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9CA5D-E4EB-43FB-B59D-919584498B2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589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570A-F3B9-255D-1F26-5DF265A3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FAA204-990F-DDB6-685B-E940611E1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9FA07D-1498-1E63-6758-CC22E7081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3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C2279C-52CB-4530-7BB3-7719201CB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9CA5D-E4EB-43FB-B59D-919584498B2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900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A48E-6819-552D-6A4C-97E7DFF0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7F649E-2419-8365-E32D-7977E4066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987D39-1A7C-319B-B202-0C91C540A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3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89FA54-24D2-8A92-1E54-24662573F6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9CA5D-E4EB-43FB-B59D-919584498B2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354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CDF6-3EB6-C38D-A05A-311FEA6D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CC5120-BE1B-DEC1-68DE-271F1FF60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87A2A5-BE69-F546-E67A-477D7E1D6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3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F8154F-AECC-190A-642C-A8D32D95F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9CA5D-E4EB-43FB-B59D-919584498B2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528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328588-DEE4-4A91-BECC-7C5B4622B3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541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92386-99C2-85C5-3F0B-EF13D54BB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DD8584-A1C5-7592-A071-131C7A5D6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2987FE-D27D-AB5C-A001-44CF57FF2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C922EA-9D57-6AD4-81FB-8C82C47A98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337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79A1FC97-18A7-42D6-85CD-FB1F702891F2}"/>
              </a:ext>
            </a:extLst>
          </p:cNvPr>
          <p:cNvGrpSpPr/>
          <p:nvPr userDrawn="1"/>
        </p:nvGrpSpPr>
        <p:grpSpPr>
          <a:xfrm>
            <a:off x="0" y="-11430"/>
            <a:ext cx="5265578" cy="5260414"/>
            <a:chOff x="0" y="0"/>
            <a:chExt cx="6643" cy="7367"/>
          </a:xfrm>
        </p:grpSpPr>
        <p:sp>
          <p:nvSpPr>
            <p:cNvPr id="8" name="矩形: 圆顶角 5">
              <a:extLst>
                <a:ext uri="{FF2B5EF4-FFF2-40B4-BE49-F238E27FC236}">
                  <a16:creationId xmlns:a16="http://schemas.microsoft.com/office/drawing/2014/main" id="{9377EB54-B31E-43A6-BB02-7EC88BFBD076}"/>
                </a:ext>
              </a:extLst>
            </p:cNvPr>
            <p:cNvSpPr/>
            <p:nvPr/>
          </p:nvSpPr>
          <p:spPr>
            <a:xfrm flipV="1">
              <a:off x="0" y="16"/>
              <a:ext cx="5770" cy="7351"/>
            </a:xfrm>
            <a:custGeom>
              <a:avLst/>
              <a:gdLst>
                <a:gd name="connsiteX0" fmla="*/ 0 w 5721"/>
                <a:gd name="connsiteY0" fmla="*/ 5876 h 5876"/>
                <a:gd name="connsiteX1" fmla="*/ 0 w 5721"/>
                <a:gd name="connsiteY1" fmla="*/ 0 h 5876"/>
                <a:gd name="connsiteX2" fmla="*/ 5721 w 5721"/>
                <a:gd name="connsiteY2" fmla="*/ 5876 h 5876"/>
                <a:gd name="connsiteX3" fmla="*/ 0 w 5721"/>
                <a:gd name="connsiteY3" fmla="*/ 5876 h 5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21" h="5876">
                  <a:moveTo>
                    <a:pt x="0" y="5876"/>
                  </a:moveTo>
                  <a:lnTo>
                    <a:pt x="0" y="0"/>
                  </a:lnTo>
                  <a:cubicBezTo>
                    <a:pt x="787" y="2810"/>
                    <a:pt x="2306" y="4430"/>
                    <a:pt x="5721" y="5876"/>
                  </a:cubicBezTo>
                  <a:lnTo>
                    <a:pt x="0" y="5876"/>
                  </a:lnTo>
                  <a:close/>
                </a:path>
              </a:pathLst>
            </a:custGeom>
            <a:solidFill>
              <a:srgbClr val="A0B2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顶角 5">
              <a:extLst>
                <a:ext uri="{FF2B5EF4-FFF2-40B4-BE49-F238E27FC236}">
                  <a16:creationId xmlns:a16="http://schemas.microsoft.com/office/drawing/2014/main" id="{04A7F766-D890-4D54-8240-E4E60C1835BD}"/>
                </a:ext>
              </a:extLst>
            </p:cNvPr>
            <p:cNvSpPr/>
            <p:nvPr/>
          </p:nvSpPr>
          <p:spPr>
            <a:xfrm flipV="1">
              <a:off x="0" y="0"/>
              <a:ext cx="6643" cy="5640"/>
            </a:xfrm>
            <a:custGeom>
              <a:avLst/>
              <a:gdLst>
                <a:gd name="connsiteX0" fmla="*/ 0 w 5721"/>
                <a:gd name="connsiteY0" fmla="*/ 5876 h 5876"/>
                <a:gd name="connsiteX1" fmla="*/ 0 w 5721"/>
                <a:gd name="connsiteY1" fmla="*/ 0 h 5876"/>
                <a:gd name="connsiteX2" fmla="*/ 5721 w 5721"/>
                <a:gd name="connsiteY2" fmla="*/ 5876 h 5876"/>
                <a:gd name="connsiteX3" fmla="*/ 0 w 5721"/>
                <a:gd name="connsiteY3" fmla="*/ 5876 h 5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21" h="5876">
                  <a:moveTo>
                    <a:pt x="0" y="5876"/>
                  </a:moveTo>
                  <a:lnTo>
                    <a:pt x="0" y="0"/>
                  </a:lnTo>
                  <a:cubicBezTo>
                    <a:pt x="787" y="2810"/>
                    <a:pt x="2306" y="4430"/>
                    <a:pt x="5721" y="5876"/>
                  </a:cubicBezTo>
                  <a:lnTo>
                    <a:pt x="0" y="5876"/>
                  </a:lnTo>
                  <a:close/>
                </a:path>
              </a:pathLst>
            </a:custGeom>
            <a:solidFill>
              <a:srgbClr val="1E4A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8499288-ED74-47B5-A177-1D493BB4D886}"/>
              </a:ext>
            </a:extLst>
          </p:cNvPr>
          <p:cNvGrpSpPr/>
          <p:nvPr userDrawn="1"/>
        </p:nvGrpSpPr>
        <p:grpSpPr>
          <a:xfrm flipH="1" flipV="1">
            <a:off x="8926195" y="4156075"/>
            <a:ext cx="3265805" cy="2701925"/>
            <a:chOff x="0" y="0"/>
            <a:chExt cx="6642" cy="7350"/>
          </a:xfrm>
        </p:grpSpPr>
        <p:sp>
          <p:nvSpPr>
            <p:cNvPr id="11" name="矩形: 圆顶角 5">
              <a:extLst>
                <a:ext uri="{FF2B5EF4-FFF2-40B4-BE49-F238E27FC236}">
                  <a16:creationId xmlns:a16="http://schemas.microsoft.com/office/drawing/2014/main" id="{8BC93581-2032-4107-B0C3-BF1DB506CD0D}"/>
                </a:ext>
              </a:extLst>
            </p:cNvPr>
            <p:cNvSpPr/>
            <p:nvPr/>
          </p:nvSpPr>
          <p:spPr>
            <a:xfrm flipV="1">
              <a:off x="0" y="0"/>
              <a:ext cx="5770" cy="7351"/>
            </a:xfrm>
            <a:custGeom>
              <a:avLst/>
              <a:gdLst>
                <a:gd name="connsiteX0" fmla="*/ 0 w 5721"/>
                <a:gd name="connsiteY0" fmla="*/ 5876 h 5876"/>
                <a:gd name="connsiteX1" fmla="*/ 0 w 5721"/>
                <a:gd name="connsiteY1" fmla="*/ 0 h 5876"/>
                <a:gd name="connsiteX2" fmla="*/ 5721 w 5721"/>
                <a:gd name="connsiteY2" fmla="*/ 5876 h 5876"/>
                <a:gd name="connsiteX3" fmla="*/ 0 w 5721"/>
                <a:gd name="connsiteY3" fmla="*/ 5876 h 5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21" h="5876">
                  <a:moveTo>
                    <a:pt x="0" y="5876"/>
                  </a:moveTo>
                  <a:lnTo>
                    <a:pt x="0" y="0"/>
                  </a:lnTo>
                  <a:cubicBezTo>
                    <a:pt x="787" y="2810"/>
                    <a:pt x="2306" y="4430"/>
                    <a:pt x="5721" y="5876"/>
                  </a:cubicBezTo>
                  <a:lnTo>
                    <a:pt x="0" y="5876"/>
                  </a:lnTo>
                  <a:close/>
                </a:path>
              </a:pathLst>
            </a:custGeom>
            <a:solidFill>
              <a:srgbClr val="A0B2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顶角 5">
              <a:extLst>
                <a:ext uri="{FF2B5EF4-FFF2-40B4-BE49-F238E27FC236}">
                  <a16:creationId xmlns:a16="http://schemas.microsoft.com/office/drawing/2014/main" id="{D3386750-08C7-44AC-B987-E7B5706E9230}"/>
                </a:ext>
              </a:extLst>
            </p:cNvPr>
            <p:cNvSpPr/>
            <p:nvPr/>
          </p:nvSpPr>
          <p:spPr>
            <a:xfrm flipV="1">
              <a:off x="0" y="0"/>
              <a:ext cx="6643" cy="5640"/>
            </a:xfrm>
            <a:custGeom>
              <a:avLst/>
              <a:gdLst>
                <a:gd name="connsiteX0" fmla="*/ 0 w 5721"/>
                <a:gd name="connsiteY0" fmla="*/ 5876 h 5876"/>
                <a:gd name="connsiteX1" fmla="*/ 0 w 5721"/>
                <a:gd name="connsiteY1" fmla="*/ 0 h 5876"/>
                <a:gd name="connsiteX2" fmla="*/ 5721 w 5721"/>
                <a:gd name="connsiteY2" fmla="*/ 5876 h 5876"/>
                <a:gd name="connsiteX3" fmla="*/ 0 w 5721"/>
                <a:gd name="connsiteY3" fmla="*/ 5876 h 5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21" h="5876">
                  <a:moveTo>
                    <a:pt x="0" y="5876"/>
                  </a:moveTo>
                  <a:lnTo>
                    <a:pt x="0" y="0"/>
                  </a:lnTo>
                  <a:cubicBezTo>
                    <a:pt x="787" y="2810"/>
                    <a:pt x="2306" y="4430"/>
                    <a:pt x="5721" y="5876"/>
                  </a:cubicBezTo>
                  <a:lnTo>
                    <a:pt x="0" y="5876"/>
                  </a:lnTo>
                  <a:close/>
                </a:path>
              </a:pathLst>
            </a:custGeom>
            <a:solidFill>
              <a:srgbClr val="1E4A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789F912-D9C6-49E0-AF4E-D8BC7828C43A}"/>
              </a:ext>
            </a:extLst>
          </p:cNvPr>
          <p:cNvGrpSpPr/>
          <p:nvPr userDrawn="1"/>
        </p:nvGrpSpPr>
        <p:grpSpPr>
          <a:xfrm>
            <a:off x="176259" y="6274432"/>
            <a:ext cx="8616853" cy="653183"/>
            <a:chOff x="353838" y="6086070"/>
            <a:chExt cx="11326541" cy="858585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C10CEB8-497D-4F5D-A2EC-A433197A50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355211" y="6091221"/>
              <a:ext cx="3208350" cy="853434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2DE2F6C-8DD1-4DD5-BF30-7AB7202ED2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819998" y="6115806"/>
              <a:ext cx="2860381" cy="738225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FEAD71F9-5AE3-4674-AF15-D3A87C4DD1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53838" y="6086070"/>
              <a:ext cx="4607780" cy="767962"/>
            </a:xfrm>
            <a:prstGeom prst="rect">
              <a:avLst/>
            </a:prstGeom>
          </p:spPr>
        </p:pic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E143BA-00E4-F3DC-0855-C51925D8674F}"/>
              </a:ext>
            </a:extLst>
          </p:cNvPr>
          <p:cNvGrpSpPr/>
          <p:nvPr userDrawn="1"/>
        </p:nvGrpSpPr>
        <p:grpSpPr>
          <a:xfrm>
            <a:off x="9182333" y="329929"/>
            <a:ext cx="811712" cy="641750"/>
            <a:chOff x="9182333" y="329929"/>
            <a:chExt cx="811712" cy="641750"/>
          </a:xfrm>
        </p:grpSpPr>
        <p:pic>
          <p:nvPicPr>
            <p:cNvPr id="14" name="Picture 2" descr="https://timgsa.baidu.com/timg?image&amp;quality=80&amp;size=b9999_10000&amp;sec=1585908670708&amp;di=d8252d5cb9be1c5b1f0ee1b64c795bf5&amp;imgtype=0&amp;src=http%3A%2F%2F1310.gaokao.haedu.cn%2Fupload%2Fschool%2F1551768310H3dns1GypP.jpg">
              <a:extLst>
                <a:ext uri="{FF2B5EF4-FFF2-40B4-BE49-F238E27FC236}">
                  <a16:creationId xmlns:a16="http://schemas.microsoft.com/office/drawing/2014/main" id="{F967DA76-E93E-417F-9E15-2975A524EF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82333" y="329929"/>
              <a:ext cx="639819" cy="641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3E4BF63-38EF-4E9D-A105-C26418F4CD25}"/>
                </a:ext>
              </a:extLst>
            </p:cNvPr>
            <p:cNvCxnSpPr>
              <a:cxnSpLocks/>
            </p:cNvCxnSpPr>
            <p:nvPr/>
          </p:nvCxnSpPr>
          <p:spPr>
            <a:xfrm>
              <a:off x="9994045" y="421428"/>
              <a:ext cx="0" cy="458752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70DA6529-3203-D188-7AFD-CDAFD76E6369}"/>
              </a:ext>
            </a:extLst>
          </p:cNvPr>
          <p:cNvSpPr txBox="1"/>
          <p:nvPr userDrawn="1"/>
        </p:nvSpPr>
        <p:spPr>
          <a:xfrm>
            <a:off x="10115807" y="749495"/>
            <a:ext cx="1992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orbel Light" panose="020B0303020204020204" pitchFamily="34" charset="0"/>
              </a:rPr>
              <a:t>School of Automotive Studies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latin typeface="Corbel Light" panose="020B0303020204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7CF927-450D-76FC-8FBA-F838944D72A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8372" y="353272"/>
            <a:ext cx="1646484" cy="42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1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顶角 3">
            <a:extLst>
              <a:ext uri="{FF2B5EF4-FFF2-40B4-BE49-F238E27FC236}">
                <a16:creationId xmlns:a16="http://schemas.microsoft.com/office/drawing/2014/main" id="{CD785EC8-4542-4C0B-91C2-03AFE0788E67}"/>
              </a:ext>
            </a:extLst>
          </p:cNvPr>
          <p:cNvSpPr/>
          <p:nvPr userDrawn="1"/>
        </p:nvSpPr>
        <p:spPr>
          <a:xfrm rot="16200000" flipH="1" flipV="1">
            <a:off x="-2193925" y="3131701"/>
            <a:ext cx="5925820" cy="1532890"/>
          </a:xfrm>
          <a:prstGeom prst="triangle">
            <a:avLst/>
          </a:prstGeom>
          <a:solidFill>
            <a:srgbClr val="A0B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A70D2"/>
              </a:solidFill>
            </a:endParaRPr>
          </a:p>
        </p:txBody>
      </p:sp>
      <p:sp>
        <p:nvSpPr>
          <p:cNvPr id="8" name="矩形: 圆顶角 3">
            <a:extLst>
              <a:ext uri="{FF2B5EF4-FFF2-40B4-BE49-F238E27FC236}">
                <a16:creationId xmlns:a16="http://schemas.microsoft.com/office/drawing/2014/main" id="{83D021E6-7E43-400E-A103-C96395D48958}"/>
              </a:ext>
            </a:extLst>
          </p:cNvPr>
          <p:cNvSpPr/>
          <p:nvPr userDrawn="1"/>
        </p:nvSpPr>
        <p:spPr>
          <a:xfrm rot="16200000" flipH="1" flipV="1">
            <a:off x="-2193925" y="2196465"/>
            <a:ext cx="5925820" cy="1532890"/>
          </a:xfrm>
          <a:prstGeom prst="triangle">
            <a:avLst/>
          </a:prstGeom>
          <a:solidFill>
            <a:srgbClr val="A0B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A70D2"/>
              </a:solidFill>
            </a:endParaRPr>
          </a:p>
        </p:txBody>
      </p:sp>
      <p:sp>
        <p:nvSpPr>
          <p:cNvPr id="9" name="矩形: 圆顶角 3">
            <a:extLst>
              <a:ext uri="{FF2B5EF4-FFF2-40B4-BE49-F238E27FC236}">
                <a16:creationId xmlns:a16="http://schemas.microsoft.com/office/drawing/2014/main" id="{4A9AFA88-AB15-4186-8780-8D8B68CA7B25}"/>
              </a:ext>
            </a:extLst>
          </p:cNvPr>
          <p:cNvSpPr/>
          <p:nvPr userDrawn="1"/>
        </p:nvSpPr>
        <p:spPr>
          <a:xfrm rot="16200000" flipH="1" flipV="1">
            <a:off x="-2193925" y="2633229"/>
            <a:ext cx="5925820" cy="1532890"/>
          </a:xfrm>
          <a:prstGeom prst="triangle">
            <a:avLst/>
          </a:prstGeom>
          <a:solidFill>
            <a:srgbClr val="1E4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A70D2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303BEB-EC7B-4B73-B3B9-435A1A14FB40}"/>
              </a:ext>
            </a:extLst>
          </p:cNvPr>
          <p:cNvSpPr txBox="1"/>
          <p:nvPr userDrawn="1"/>
        </p:nvSpPr>
        <p:spPr>
          <a:xfrm>
            <a:off x="10115807" y="749495"/>
            <a:ext cx="1992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orbel Light" panose="020B0303020204020204" pitchFamily="34" charset="0"/>
              </a:rPr>
              <a:t>School of Automotive Studies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latin typeface="Corbel Light" panose="020B0303020204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D807F50-DD6A-4A6E-9E77-EF4EA8791C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8372" y="353272"/>
            <a:ext cx="1646484" cy="42900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085AB0D-B4CA-4EAD-A2E0-E0A5F26D8F8F}"/>
              </a:ext>
            </a:extLst>
          </p:cNvPr>
          <p:cNvGrpSpPr/>
          <p:nvPr userDrawn="1"/>
        </p:nvGrpSpPr>
        <p:grpSpPr>
          <a:xfrm>
            <a:off x="1440652" y="6190659"/>
            <a:ext cx="9864427" cy="747753"/>
            <a:chOff x="353838" y="6086070"/>
            <a:chExt cx="11326541" cy="858585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97C15CC7-7622-4ED7-A4EF-9325CCFD9F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355211" y="6091221"/>
              <a:ext cx="3208350" cy="853434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9179D0B-E0B7-4B40-BFDD-1C005B3458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819998" y="6115806"/>
              <a:ext cx="2860381" cy="738225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05E0C9D-BFB6-4466-B8D8-D8F9808A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53838" y="6086070"/>
              <a:ext cx="4607780" cy="767962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B95B5A39-1F27-4769-8AEA-31DC886FA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8372" y="353272"/>
            <a:ext cx="1646484" cy="429005"/>
          </a:xfrm>
          <a:prstGeom prst="rect">
            <a:avLst/>
          </a:prstGeom>
        </p:spPr>
      </p:pic>
      <p:sp>
        <p:nvSpPr>
          <p:cNvPr id="8" name="矩形: 圆顶角 2">
            <a:extLst>
              <a:ext uri="{FF2B5EF4-FFF2-40B4-BE49-F238E27FC236}">
                <a16:creationId xmlns:a16="http://schemas.microsoft.com/office/drawing/2014/main" id="{14A02E71-EE0F-4BA3-9E0C-62AE97404574}"/>
              </a:ext>
            </a:extLst>
          </p:cNvPr>
          <p:cNvSpPr/>
          <p:nvPr userDrawn="1"/>
        </p:nvSpPr>
        <p:spPr>
          <a:xfrm flipH="1">
            <a:off x="7785558" y="5621655"/>
            <a:ext cx="4411345" cy="1236345"/>
          </a:xfrm>
          <a:prstGeom prst="triangle">
            <a:avLst/>
          </a:prstGeom>
          <a:solidFill>
            <a:srgbClr val="A0B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顶角 2">
            <a:extLst>
              <a:ext uri="{FF2B5EF4-FFF2-40B4-BE49-F238E27FC236}">
                <a16:creationId xmlns:a16="http://schemas.microsoft.com/office/drawing/2014/main" id="{9EB2DDAE-4E5A-4815-93A1-2E9A2D1ACFE7}"/>
              </a:ext>
            </a:extLst>
          </p:cNvPr>
          <p:cNvSpPr/>
          <p:nvPr userDrawn="1"/>
        </p:nvSpPr>
        <p:spPr>
          <a:xfrm flipH="1" flipV="1">
            <a:off x="0" y="-4445"/>
            <a:ext cx="4411345" cy="1236345"/>
          </a:xfrm>
          <a:prstGeom prst="triangle">
            <a:avLst/>
          </a:prstGeom>
          <a:solidFill>
            <a:srgbClr val="A0B2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顶角 2">
            <a:extLst>
              <a:ext uri="{FF2B5EF4-FFF2-40B4-BE49-F238E27FC236}">
                <a16:creationId xmlns:a16="http://schemas.microsoft.com/office/drawing/2014/main" id="{CEF188E8-8ED7-4123-9F5B-112D0BDEE663}"/>
              </a:ext>
            </a:extLst>
          </p:cNvPr>
          <p:cNvSpPr/>
          <p:nvPr userDrawn="1"/>
        </p:nvSpPr>
        <p:spPr>
          <a:xfrm flipH="1" flipV="1">
            <a:off x="387985" y="-4445"/>
            <a:ext cx="4411345" cy="1236345"/>
          </a:xfrm>
          <a:prstGeom prst="triangle">
            <a:avLst/>
          </a:prstGeom>
          <a:solidFill>
            <a:srgbClr val="1E4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顶角 2">
            <a:extLst>
              <a:ext uri="{FF2B5EF4-FFF2-40B4-BE49-F238E27FC236}">
                <a16:creationId xmlns:a16="http://schemas.microsoft.com/office/drawing/2014/main" id="{5F0F155D-D898-42C4-BBA6-59B04DFDB52A}"/>
              </a:ext>
            </a:extLst>
          </p:cNvPr>
          <p:cNvSpPr/>
          <p:nvPr userDrawn="1"/>
        </p:nvSpPr>
        <p:spPr>
          <a:xfrm>
            <a:off x="7398843" y="5621655"/>
            <a:ext cx="4411345" cy="1236345"/>
          </a:xfrm>
          <a:prstGeom prst="triangle">
            <a:avLst/>
          </a:prstGeom>
          <a:solidFill>
            <a:srgbClr val="1E4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7C7C95C-BB56-4919-BB74-74089771122F}"/>
              </a:ext>
            </a:extLst>
          </p:cNvPr>
          <p:cNvSpPr txBox="1"/>
          <p:nvPr userDrawn="1"/>
        </p:nvSpPr>
        <p:spPr>
          <a:xfrm>
            <a:off x="10115807" y="749495"/>
            <a:ext cx="1992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orbel Light" panose="020B0303020204020204" pitchFamily="34" charset="0"/>
              </a:rPr>
              <a:t>School of Automotive Studies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latin typeface="Corbel Light" panose="020B0303020204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0C8EDF-0BFA-4558-B0CB-64677B3211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818181">
                  <a:alpha val="50980"/>
                </a:srgbClr>
              </a:clrFrom>
              <a:clrTo>
                <a:srgbClr val="8181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38" y="345348"/>
            <a:ext cx="838612" cy="96762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CB58139-3E96-4754-BE41-7E044147D2D3}"/>
              </a:ext>
            </a:extLst>
          </p:cNvPr>
          <p:cNvSpPr/>
          <p:nvPr userDrawn="1"/>
        </p:nvSpPr>
        <p:spPr>
          <a:xfrm>
            <a:off x="-16326" y="-1"/>
            <a:ext cx="240770" cy="1616429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EB14369-038A-4086-8209-E3574D57FA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154" y="345347"/>
            <a:ext cx="1097596" cy="2852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E8FF82-7F57-47D9-8A7C-FD29ACCFDF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55211" y="6091221"/>
            <a:ext cx="3208350" cy="85343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EC315C4-B101-456D-AFBC-4F49D854C59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19998" y="6115806"/>
            <a:ext cx="2860381" cy="7382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FA3DFB-C0EE-4EAF-8F78-B66291B907C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3838" y="6086070"/>
            <a:ext cx="4607780" cy="767962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896861B-3783-4BBA-98C5-6298BA019574}"/>
              </a:ext>
            </a:extLst>
          </p:cNvPr>
          <p:cNvCxnSpPr>
            <a:cxnSpLocks/>
          </p:cNvCxnSpPr>
          <p:nvPr userDrawn="1"/>
        </p:nvCxnSpPr>
        <p:spPr>
          <a:xfrm>
            <a:off x="-2650" y="6854030"/>
            <a:ext cx="1219465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708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CB58139-3E96-4754-BE41-7E044147D2D3}"/>
              </a:ext>
            </a:extLst>
          </p:cNvPr>
          <p:cNvSpPr/>
          <p:nvPr userDrawn="1"/>
        </p:nvSpPr>
        <p:spPr>
          <a:xfrm>
            <a:off x="408000" y="1075787"/>
            <a:ext cx="11376000" cy="36000"/>
          </a:xfrm>
          <a:prstGeom prst="rect">
            <a:avLst/>
          </a:prstGeom>
          <a:solidFill>
            <a:srgbClr val="1E4A7A"/>
          </a:solidFill>
          <a:ln>
            <a:solidFill>
              <a:srgbClr val="1E4A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896861B-3783-4BBA-98C5-6298BA019574}"/>
              </a:ext>
            </a:extLst>
          </p:cNvPr>
          <p:cNvCxnSpPr>
            <a:cxnSpLocks/>
          </p:cNvCxnSpPr>
          <p:nvPr userDrawn="1"/>
        </p:nvCxnSpPr>
        <p:spPr>
          <a:xfrm>
            <a:off x="-2650" y="6854030"/>
            <a:ext cx="1219465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B877FDC-71BB-8439-97C6-E986CC0CC0B5}"/>
              </a:ext>
            </a:extLst>
          </p:cNvPr>
          <p:cNvGrpSpPr/>
          <p:nvPr userDrawn="1"/>
        </p:nvGrpSpPr>
        <p:grpSpPr>
          <a:xfrm>
            <a:off x="1440652" y="6190659"/>
            <a:ext cx="9864427" cy="747753"/>
            <a:chOff x="353838" y="6086070"/>
            <a:chExt cx="11326541" cy="85858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CF9507E-F817-8B7D-26A7-72029483BB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355211" y="6091221"/>
              <a:ext cx="3208350" cy="853434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FB05EE7-4D82-8591-5708-834FFACB51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819998" y="6115806"/>
              <a:ext cx="2860381" cy="738225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67A5E49-30EC-5B5B-5083-CA2491D3AF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53838" y="6086070"/>
              <a:ext cx="4607780" cy="767962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4D89A47-8FE3-4880-F0D5-927980AF9E17}"/>
              </a:ext>
            </a:extLst>
          </p:cNvPr>
          <p:cNvGrpSpPr/>
          <p:nvPr userDrawn="1"/>
        </p:nvGrpSpPr>
        <p:grpSpPr>
          <a:xfrm>
            <a:off x="8892966" y="283629"/>
            <a:ext cx="811712" cy="641750"/>
            <a:chOff x="9182333" y="329929"/>
            <a:chExt cx="811712" cy="641750"/>
          </a:xfrm>
        </p:grpSpPr>
        <p:pic>
          <p:nvPicPr>
            <p:cNvPr id="14" name="Picture 2" descr="https://timgsa.baidu.com/timg?image&amp;quality=80&amp;size=b9999_10000&amp;sec=1585908670708&amp;di=d8252d5cb9be1c5b1f0ee1b64c795bf5&amp;imgtype=0&amp;src=http%3A%2F%2F1310.gaokao.haedu.cn%2Fupload%2Fschool%2F1551768310H3dns1GypP.jpg">
              <a:extLst>
                <a:ext uri="{FF2B5EF4-FFF2-40B4-BE49-F238E27FC236}">
                  <a16:creationId xmlns:a16="http://schemas.microsoft.com/office/drawing/2014/main" id="{3E14B0C5-212E-06CF-CCC5-1574B8C812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82333" y="329929"/>
              <a:ext cx="639819" cy="641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5" name="直接连接符 15">
              <a:extLst>
                <a:ext uri="{FF2B5EF4-FFF2-40B4-BE49-F238E27FC236}">
                  <a16:creationId xmlns:a16="http://schemas.microsoft.com/office/drawing/2014/main" id="{E8C66D08-0E3C-6C6B-DDFD-B866A1BAEF62}"/>
                </a:ext>
              </a:extLst>
            </p:cNvPr>
            <p:cNvCxnSpPr>
              <a:cxnSpLocks/>
            </p:cNvCxnSpPr>
            <p:nvPr/>
          </p:nvCxnSpPr>
          <p:spPr>
            <a:xfrm>
              <a:off x="9994045" y="421428"/>
              <a:ext cx="0" cy="458752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FB91E577-F9BE-B1DA-6D17-F7A7D7EE8E25}"/>
              </a:ext>
            </a:extLst>
          </p:cNvPr>
          <p:cNvSpPr txBox="1"/>
          <p:nvPr userDrawn="1"/>
        </p:nvSpPr>
        <p:spPr>
          <a:xfrm>
            <a:off x="9826440" y="703195"/>
            <a:ext cx="1992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orbel Light" panose="020B0303020204020204" pitchFamily="34" charset="0"/>
              </a:rPr>
              <a:t>School of Automotive Studies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latin typeface="Corbel Light" panose="020B0303020204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0D04950-F793-9CCD-330F-89920A89C3C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9005" y="306972"/>
            <a:ext cx="1646484" cy="429005"/>
          </a:xfrm>
          <a:prstGeom prst="rect">
            <a:avLst/>
          </a:prstGeom>
        </p:spPr>
      </p:pic>
      <p:sp>
        <p:nvSpPr>
          <p:cNvPr id="18" name="标题占位符 1">
            <a:extLst>
              <a:ext uri="{FF2B5EF4-FFF2-40B4-BE49-F238E27FC236}">
                <a16:creationId xmlns:a16="http://schemas.microsoft.com/office/drawing/2014/main" id="{05171005-D565-A822-CA5A-B4D6C41B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00" y="318825"/>
            <a:ext cx="10945800" cy="6127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9" name="文本占位符 2">
            <a:extLst>
              <a:ext uri="{FF2B5EF4-FFF2-40B4-BE49-F238E27FC236}">
                <a16:creationId xmlns:a16="http://schemas.microsoft.com/office/drawing/2014/main" id="{3616AD70-63F7-8E35-B4D0-075ED3E1C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99" y="1394862"/>
            <a:ext cx="11376013" cy="4782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0432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57" userDrawn="1">
          <p15:clr>
            <a:srgbClr val="FBAE40"/>
          </p15:clr>
        </p15:guide>
        <p15:guide id="4" pos="7423" userDrawn="1">
          <p15:clr>
            <a:srgbClr val="FBAE40"/>
          </p15:clr>
        </p15:guide>
        <p15:guide id="5" orient="horz" pos="686" userDrawn="1">
          <p15:clr>
            <a:srgbClr val="FBAE40"/>
          </p15:clr>
        </p15:guide>
        <p15:guide id="6" orient="horz" pos="388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0C8EDF-0BFA-4558-B0CB-64677B3211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818181">
                  <a:alpha val="50980"/>
                </a:srgbClr>
              </a:clrFrom>
              <a:clrTo>
                <a:srgbClr val="81818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38" y="345348"/>
            <a:ext cx="838612" cy="96762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CB58139-3E96-4754-BE41-7E044147D2D3}"/>
              </a:ext>
            </a:extLst>
          </p:cNvPr>
          <p:cNvSpPr/>
          <p:nvPr userDrawn="1"/>
        </p:nvSpPr>
        <p:spPr>
          <a:xfrm>
            <a:off x="-16326" y="-1"/>
            <a:ext cx="240770" cy="1616429"/>
          </a:xfrm>
          <a:prstGeom prst="rect">
            <a:avLst/>
          </a:prstGeom>
          <a:solidFill>
            <a:srgbClr val="1E4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EB14369-038A-4086-8209-E3574D57FA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154" y="345347"/>
            <a:ext cx="1097596" cy="2852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E8FF82-7F57-47D9-8A7C-FD29ACCFDF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55211" y="6091221"/>
            <a:ext cx="3208350" cy="85343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EC315C4-B101-456D-AFBC-4F49D854C59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819998" y="6115806"/>
            <a:ext cx="2860381" cy="7382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FA3DFB-C0EE-4EAF-8F78-B66291B907C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3838" y="6086070"/>
            <a:ext cx="4607780" cy="767962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896861B-3783-4BBA-98C5-6298BA019574}"/>
              </a:ext>
            </a:extLst>
          </p:cNvPr>
          <p:cNvCxnSpPr>
            <a:cxnSpLocks/>
          </p:cNvCxnSpPr>
          <p:nvPr userDrawn="1"/>
        </p:nvCxnSpPr>
        <p:spPr>
          <a:xfrm>
            <a:off x="-2650" y="6854030"/>
            <a:ext cx="1219465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5E6E07D8-90E1-6A88-EBF7-AA0FD1378AD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01240" y="613095"/>
            <a:ext cx="5494254" cy="542256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DE21808-7FF3-FC07-8192-CA3F6B167F60}"/>
              </a:ext>
            </a:extLst>
          </p:cNvPr>
          <p:cNvSpPr/>
          <p:nvPr userDrawn="1"/>
        </p:nvSpPr>
        <p:spPr>
          <a:xfrm>
            <a:off x="3044705" y="514041"/>
            <a:ext cx="6005384" cy="542256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65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9304" y="964351"/>
            <a:ext cx="10047514" cy="5210646"/>
          </a:xfrm>
        </p:spPr>
        <p:txBody>
          <a:bodyPr/>
          <a:lstStyle>
            <a:lvl1pPr marL="628650" indent="-628650">
              <a:buFont typeface="Wingdings" panose="05000000000000000000" pitchFamily="2" charset="2"/>
              <a:buChar char="p"/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95350" indent="-438150"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9304" y="356659"/>
            <a:ext cx="6038825" cy="440676"/>
          </a:xfrm>
        </p:spPr>
        <p:txBody>
          <a:bodyPr vert="horz" lIns="68580" tIns="34290" rIns="68580" bIns="34290" rtlCol="0" anchor="ctr">
            <a:noAutofit/>
          </a:bodyPr>
          <a:lstStyle>
            <a:lvl1pPr algn="l">
              <a:defRPr lang="zh-CN" altLang="en-US" sz="3200" b="1" i="0" baseline="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685800">
              <a:lnSpc>
                <a:spcPct val="90000"/>
              </a:lnSpc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1270838" y="872083"/>
            <a:ext cx="10479237" cy="1"/>
          </a:xfrm>
          <a:prstGeom prst="line">
            <a:avLst/>
          </a:prstGeom>
          <a:ln w="19050" cmpd="sng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527435" y="331259"/>
            <a:ext cx="528000" cy="528000"/>
            <a:chOff x="406574" y="236732"/>
            <a:chExt cx="612048" cy="593261"/>
          </a:xfrm>
        </p:grpSpPr>
        <p:sp>
          <p:nvSpPr>
            <p:cNvPr id="15" name="矩形 14"/>
            <p:cNvSpPr/>
            <p:nvPr userDrawn="1"/>
          </p:nvSpPr>
          <p:spPr>
            <a:xfrm>
              <a:off x="406574" y="236732"/>
              <a:ext cx="504000" cy="504000"/>
            </a:xfrm>
            <a:prstGeom prst="rect">
              <a:avLst/>
            </a:prstGeom>
            <a:no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694606" y="512239"/>
              <a:ext cx="324016" cy="31775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53486" y="6356350"/>
            <a:ext cx="700314" cy="365125"/>
          </a:xfrm>
        </p:spPr>
        <p:txBody>
          <a:bodyPr/>
          <a:lstStyle/>
          <a:p>
            <a:fld id="{337A9598-6120-4236-B6F1-72B502AB3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645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D478DF-1B4C-4B22-AFBF-EA5ADF42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382560-34D8-43BE-BFAD-6A5DE79B7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A6898-6957-4841-80AE-83372A5C6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CF4FF-34A7-4B76-8528-C163DF04A478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F7D0F-21EE-4585-9258-750077C29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F9C397-60A1-45C0-9E45-A22DDF25B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E4A19-39C9-45ED-B52E-6CA3758F59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69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2" r:id="rId3"/>
    <p:sldLayoutId id="2147483664" r:id="rId4"/>
    <p:sldLayoutId id="2147483666" r:id="rId5"/>
    <p:sldLayoutId id="2147483665" r:id="rId6"/>
    <p:sldLayoutId id="2147483670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yn@tongji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hyperlink" Target="mailto:q_zhou@Tongji.edu.cn" TargetMode="Externa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0959B5F-34BE-7302-13CA-2A214182D5B1}"/>
              </a:ext>
            </a:extLst>
          </p:cNvPr>
          <p:cNvGrpSpPr/>
          <p:nvPr/>
        </p:nvGrpSpPr>
        <p:grpSpPr>
          <a:xfrm>
            <a:off x="362211" y="1174498"/>
            <a:ext cx="11467578" cy="3988981"/>
            <a:chOff x="362211" y="1321626"/>
            <a:chExt cx="11467578" cy="3988981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1416000" y="3656633"/>
              <a:ext cx="9360000" cy="178802"/>
              <a:chOff x="1535431" y="4128137"/>
              <a:chExt cx="9360000" cy="178802"/>
            </a:xfrm>
          </p:grpSpPr>
          <p:cxnSp>
            <p:nvCxnSpPr>
              <p:cNvPr id="12" name="直接连接符 11"/>
              <p:cNvCxnSpPr/>
              <p:nvPr userDrawn="1"/>
            </p:nvCxnSpPr>
            <p:spPr>
              <a:xfrm>
                <a:off x="1535431" y="4306939"/>
                <a:ext cx="9360000" cy="0"/>
              </a:xfrm>
              <a:prstGeom prst="line">
                <a:avLst/>
              </a:prstGeom>
              <a:ln w="19050">
                <a:solidFill>
                  <a:srgbClr val="1E4A7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矩形: 圆角 12"/>
              <p:cNvSpPr/>
              <p:nvPr userDrawn="1"/>
            </p:nvSpPr>
            <p:spPr>
              <a:xfrm>
                <a:off x="4647565" y="4128137"/>
                <a:ext cx="3052445" cy="174625"/>
              </a:xfrm>
              <a:prstGeom prst="triangle">
                <a:avLst/>
              </a:prstGeom>
              <a:solidFill>
                <a:srgbClr val="1E4A7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A70D2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84CDFC7-88BD-4258-8EB1-21DC0D1FC1F6}"/>
                </a:ext>
              </a:extLst>
            </p:cNvPr>
            <p:cNvSpPr txBox="1"/>
            <p:nvPr/>
          </p:nvSpPr>
          <p:spPr>
            <a:xfrm>
              <a:off x="362211" y="1321626"/>
              <a:ext cx="11467578" cy="2435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defRPr/>
              </a:pPr>
              <a:br>
                <a:rPr lang="en-GB" altLang="zh-CN" sz="3600" b="1" dirty="0">
                  <a:solidFill>
                    <a:srgbClr val="1E4A7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</a:br>
              <a:r>
                <a:rPr lang="zh-CN" altLang="en-US" sz="2800" b="1" dirty="0">
                  <a:solidFill>
                    <a:srgbClr val="1E4A7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自动驾驶标准测试场景从仿真到实车的一体化系统构建与应用 </a:t>
              </a:r>
              <a:endParaRPr lang="en-US" altLang="zh-CN" sz="3600" b="1" dirty="0">
                <a:solidFill>
                  <a:srgbClr val="1E4A7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en-US" altLang="zh-CN" b="1" dirty="0">
                  <a:solidFill>
                    <a:srgbClr val="1E4A7A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Integrated System Development and Application of Standard Test Scenarios for Autonomous Driving: From Simulation to Real Vehicles</a:t>
              </a:r>
              <a:endParaRPr lang="en-US" altLang="zh-CN" sz="3200" b="1" dirty="0">
                <a:solidFill>
                  <a:srgbClr val="1E4A7A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C0003BD-A0CA-4C42-B993-EF2060858CC1}"/>
                </a:ext>
              </a:extLst>
            </p:cNvPr>
            <p:cNvSpPr txBox="1"/>
            <p:nvPr/>
          </p:nvSpPr>
          <p:spPr>
            <a:xfrm>
              <a:off x="2695485" y="4023075"/>
              <a:ext cx="6801030" cy="1287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b="1" dirty="0">
                  <a:solidFill>
                    <a:srgbClr val="3B383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马依宁</a:t>
              </a:r>
              <a:endParaRPr lang="en-US" altLang="zh-CN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b="1" dirty="0">
                  <a:solidFill>
                    <a:srgbClr val="3B383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同济大学  汽车与能源学院</a:t>
              </a:r>
              <a:endParaRPr lang="en-US" altLang="zh-CN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b="1" dirty="0">
                  <a:solidFill>
                    <a:srgbClr val="3B383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(</a:t>
              </a:r>
              <a:r>
                <a:rPr lang="en-US" altLang="zh-CN" b="1" dirty="0">
                  <a:solidFill>
                    <a:srgbClr val="3B383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hlinkClick r:id="rId3"/>
                </a:rPr>
                <a:t>myn@tongji.edu.cn</a:t>
              </a:r>
              <a:r>
                <a:rPr lang="en-US" altLang="zh-CN" b="1" dirty="0">
                  <a:solidFill>
                    <a:srgbClr val="3B3838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60F02-AAF4-3D45-6AA5-133365073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图示&#10;&#10;AI 生成的内容可能不正确。">
            <a:extLst>
              <a:ext uri="{FF2B5EF4-FFF2-40B4-BE49-F238E27FC236}">
                <a16:creationId xmlns:a16="http://schemas.microsoft.com/office/drawing/2014/main" id="{4B78B185-367F-F835-7806-06BD7A51F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086" y="1344513"/>
            <a:ext cx="4600215" cy="5194662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B129326B-BEF1-0E3F-9B94-46E7F4C1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solidFill>
                  <a:srgbClr val="1E4A7A"/>
                </a:solidFill>
                <a:ea typeface="微软雅黑" panose="020B0503020204020204" charset="-122"/>
                <a:sym typeface="微软雅黑" panose="020B0503020204020204" charset="-122"/>
              </a:rPr>
              <a:t>项目概述</a:t>
            </a:r>
            <a:endParaRPr lang="zh-CN" altLang="en-US" sz="3600" dirty="0">
              <a:solidFill>
                <a:srgbClr val="1E4A7A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6CE68D-ADEF-7595-DF66-37DDE803E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82" y="1439226"/>
            <a:ext cx="7241328" cy="519466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F12C11-D0A5-F31B-8CAD-851A8C79C8B2}"/>
              </a:ext>
            </a:extLst>
          </p:cNvPr>
          <p:cNvSpPr txBox="1"/>
          <p:nvPr/>
        </p:nvSpPr>
        <p:spPr>
          <a:xfrm>
            <a:off x="5564624" y="1238836"/>
            <a:ext cx="3926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项目学习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培训流程（学习，一周）：</a:t>
            </a: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F50E7445-2A0B-8D9B-980D-843067A7E0AD}"/>
              </a:ext>
            </a:extLst>
          </p:cNvPr>
          <p:cNvCxnSpPr>
            <a:cxnSpLocks/>
          </p:cNvCxnSpPr>
          <p:nvPr/>
        </p:nvCxnSpPr>
        <p:spPr>
          <a:xfrm rot="5400000" flipH="1">
            <a:off x="7771353" y="4225178"/>
            <a:ext cx="1752167" cy="2664473"/>
          </a:xfrm>
          <a:prstGeom prst="bentConnector4">
            <a:avLst>
              <a:gd name="adj1" fmla="val -13047"/>
              <a:gd name="adj2" fmla="val 891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9934F4E6-B2F5-30F1-F933-5B700F705647}"/>
              </a:ext>
            </a:extLst>
          </p:cNvPr>
          <p:cNvCxnSpPr>
            <a:cxnSpLocks/>
          </p:cNvCxnSpPr>
          <p:nvPr/>
        </p:nvCxnSpPr>
        <p:spPr>
          <a:xfrm rot="10800000">
            <a:off x="3985593" y="4865998"/>
            <a:ext cx="4462668" cy="2725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6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CCC2-1B7B-E12C-2959-35DABF4E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AEB49-92D2-2539-F0F7-30D891440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04" y="356659"/>
            <a:ext cx="9227048" cy="440676"/>
          </a:xfrm>
        </p:spPr>
        <p:txBody>
          <a:bodyPr/>
          <a:lstStyle/>
          <a:p>
            <a:r>
              <a:rPr lang="zh-CN" altLang="en-US" sz="2800" dirty="0">
                <a:solidFill>
                  <a:srgbClr val="002060"/>
                </a:solidFill>
              </a:rPr>
              <a:t>近中远期目标</a:t>
            </a:r>
          </a:p>
        </p:txBody>
      </p:sp>
      <p:pic>
        <p:nvPicPr>
          <p:cNvPr id="13" name="图片 12" descr="图示&#10;&#10;AI 生成的内容可能不正确。">
            <a:extLst>
              <a:ext uri="{FF2B5EF4-FFF2-40B4-BE49-F238E27FC236}">
                <a16:creationId xmlns:a16="http://schemas.microsoft.com/office/drawing/2014/main" id="{3B2F77CD-59E6-35CE-9177-24AD49DAE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71" y="928873"/>
            <a:ext cx="11343120" cy="478441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4123C11-EF50-11B0-63A4-0C95B6A05EBD}"/>
              </a:ext>
            </a:extLst>
          </p:cNvPr>
          <p:cNvSpPr txBox="1"/>
          <p:nvPr/>
        </p:nvSpPr>
        <p:spPr>
          <a:xfrm>
            <a:off x="424440" y="6236062"/>
            <a:ext cx="327513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近期：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个标准测试用例（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快速上手熟悉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54047A-FC13-E682-2012-F7ED3806E656}"/>
              </a:ext>
            </a:extLst>
          </p:cNvPr>
          <p:cNvSpPr txBox="1"/>
          <p:nvPr/>
        </p:nvSpPr>
        <p:spPr>
          <a:xfrm>
            <a:off x="5004165" y="5713287"/>
            <a:ext cx="327513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中期：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完成整套系统的构建（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月前）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（标准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虚实结合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面向应用）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A29175-65FC-9582-91A5-2F94931484D7}"/>
              </a:ext>
            </a:extLst>
          </p:cNvPr>
          <p:cNvSpPr txBox="1"/>
          <p:nvPr/>
        </p:nvSpPr>
        <p:spPr>
          <a:xfrm>
            <a:off x="7851913" y="4908974"/>
            <a:ext cx="4220817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远期：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基于搜索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大模型等方法构建场景库（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月前）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论文产出</a:t>
            </a:r>
          </a:p>
        </p:txBody>
      </p:sp>
      <p:sp>
        <p:nvSpPr>
          <p:cNvPr id="7" name="箭头: 直角上 6">
            <a:extLst>
              <a:ext uri="{FF2B5EF4-FFF2-40B4-BE49-F238E27FC236}">
                <a16:creationId xmlns:a16="http://schemas.microsoft.com/office/drawing/2014/main" id="{D2FFF552-FD9C-DEBE-AA6D-611DC0489E1F}"/>
              </a:ext>
            </a:extLst>
          </p:cNvPr>
          <p:cNvSpPr/>
          <p:nvPr/>
        </p:nvSpPr>
        <p:spPr>
          <a:xfrm>
            <a:off x="4323522" y="6375883"/>
            <a:ext cx="496956" cy="243578"/>
          </a:xfrm>
          <a:prstGeom prst="bentUpArrow">
            <a:avLst>
              <a:gd name="adj1" fmla="val 20919"/>
              <a:gd name="adj2" fmla="val 25000"/>
              <a:gd name="adj3" fmla="val 4540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直角上 7">
            <a:extLst>
              <a:ext uri="{FF2B5EF4-FFF2-40B4-BE49-F238E27FC236}">
                <a16:creationId xmlns:a16="http://schemas.microsoft.com/office/drawing/2014/main" id="{0C993232-00D4-3B5B-989D-8AFCE74B3789}"/>
              </a:ext>
            </a:extLst>
          </p:cNvPr>
          <p:cNvSpPr/>
          <p:nvPr/>
        </p:nvSpPr>
        <p:spPr>
          <a:xfrm>
            <a:off x="8663611" y="5693804"/>
            <a:ext cx="496956" cy="243578"/>
          </a:xfrm>
          <a:prstGeom prst="bentUpArrow">
            <a:avLst>
              <a:gd name="adj1" fmla="val 20919"/>
              <a:gd name="adj2" fmla="val 25000"/>
              <a:gd name="adj3" fmla="val 4540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75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8E99F-9EF6-9A96-1D77-AB0D382F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DAB62-2984-26FE-FA79-783F2F76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04" y="356659"/>
            <a:ext cx="9227048" cy="440676"/>
          </a:xfrm>
        </p:spPr>
        <p:txBody>
          <a:bodyPr/>
          <a:lstStyle/>
          <a:p>
            <a:r>
              <a:rPr lang="zh-CN" altLang="en-US" sz="2800" dirty="0">
                <a:solidFill>
                  <a:srgbClr val="002060"/>
                </a:solidFill>
              </a:rPr>
              <a:t>近期目标细化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417749-FC52-7E05-43EE-34CE14484D3B}"/>
              </a:ext>
            </a:extLst>
          </p:cNvPr>
          <p:cNvSpPr txBox="1"/>
          <p:nvPr/>
        </p:nvSpPr>
        <p:spPr>
          <a:xfrm>
            <a:off x="172970" y="4143187"/>
            <a:ext cx="3479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无信号灯的十字交叉路口两车直行碰撞</a:t>
            </a:r>
          </a:p>
        </p:txBody>
      </p:sp>
      <p:pic>
        <p:nvPicPr>
          <p:cNvPr id="12" name="图片 11" descr="图形用户界面&#10;&#10;AI 生成的内容可能不正确。">
            <a:extLst>
              <a:ext uri="{FF2B5EF4-FFF2-40B4-BE49-F238E27FC236}">
                <a16:creationId xmlns:a16="http://schemas.microsoft.com/office/drawing/2014/main" id="{60E5E4AB-53CF-C6C1-4750-CDB559B61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92" y="4693334"/>
            <a:ext cx="2378342" cy="1979273"/>
          </a:xfrm>
          <a:prstGeom prst="rect">
            <a:avLst/>
          </a:prstGeom>
        </p:spPr>
      </p:pic>
      <p:pic>
        <p:nvPicPr>
          <p:cNvPr id="15" name="图片 14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C328632C-2B8A-CB67-1299-B29DA0758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451" y="4635024"/>
            <a:ext cx="2336353" cy="209589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B75F9EF-66ED-A110-7D7F-533CB4EE2D67}"/>
              </a:ext>
            </a:extLst>
          </p:cNvPr>
          <p:cNvSpPr txBox="1"/>
          <p:nvPr/>
        </p:nvSpPr>
        <p:spPr>
          <a:xfrm>
            <a:off x="3296762" y="4149722"/>
            <a:ext cx="3479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无信号灯的十字交叉路口右转直行碰撞</a:t>
            </a:r>
          </a:p>
        </p:txBody>
      </p:sp>
      <p:pic>
        <p:nvPicPr>
          <p:cNvPr id="18" name="图片 17" descr="图片包含 图示&#10;&#10;AI 生成的内容可能不正确。">
            <a:extLst>
              <a:ext uri="{FF2B5EF4-FFF2-40B4-BE49-F238E27FC236}">
                <a16:creationId xmlns:a16="http://schemas.microsoft.com/office/drawing/2014/main" id="{FE0C609A-14AF-4E49-DEC4-952DABC0D1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753" y="4569400"/>
            <a:ext cx="2042220" cy="216151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452BA00-2FE6-426E-866D-86C8970C7875}"/>
              </a:ext>
            </a:extLst>
          </p:cNvPr>
          <p:cNvSpPr txBox="1"/>
          <p:nvPr/>
        </p:nvSpPr>
        <p:spPr>
          <a:xfrm>
            <a:off x="6574585" y="4148590"/>
            <a:ext cx="3479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无信号灯的十字交叉路口对向行驶碰撞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5D9497B-CA7F-8716-C82D-E433FB1A8ECE}"/>
              </a:ext>
            </a:extLst>
          </p:cNvPr>
          <p:cNvSpPr txBox="1"/>
          <p:nvPr/>
        </p:nvSpPr>
        <p:spPr>
          <a:xfrm>
            <a:off x="379776" y="980274"/>
            <a:ext cx="32731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直行，摩托车同向行驶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前方车辆紧急制动</a:t>
            </a:r>
          </a:p>
        </p:txBody>
      </p:sp>
      <p:pic>
        <p:nvPicPr>
          <p:cNvPr id="24" name="图片 23" descr="箱线图&#10;&#10;AI 生成的内容可能不正确。">
            <a:extLst>
              <a:ext uri="{FF2B5EF4-FFF2-40B4-BE49-F238E27FC236}">
                <a16:creationId xmlns:a16="http://schemas.microsoft.com/office/drawing/2014/main" id="{84A5CEED-CB0B-BC47-6E7F-1227699044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67" y="1440213"/>
            <a:ext cx="3336188" cy="1235210"/>
          </a:xfrm>
          <a:prstGeom prst="rect">
            <a:avLst/>
          </a:prstGeom>
        </p:spPr>
      </p:pic>
      <p:pic>
        <p:nvPicPr>
          <p:cNvPr id="26" name="图片 25" descr="图表, 折线图&#10;&#10;AI 生成的内容可能不正确。">
            <a:extLst>
              <a:ext uri="{FF2B5EF4-FFF2-40B4-BE49-F238E27FC236}">
                <a16:creationId xmlns:a16="http://schemas.microsoft.com/office/drawing/2014/main" id="{F04C264E-7CD8-6455-440B-B147F5E8DE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1039" y="294190"/>
            <a:ext cx="3998089" cy="1629851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3CA02ED9-B933-4267-A7CB-F7617FDF3F62}"/>
              </a:ext>
            </a:extLst>
          </p:cNvPr>
          <p:cNvSpPr txBox="1"/>
          <p:nvPr/>
        </p:nvSpPr>
        <p:spPr>
          <a:xfrm>
            <a:off x="4587998" y="970617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前方车辆切入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切出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A970424-A5FA-F686-2933-0CA0206C52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2018" y="2408978"/>
            <a:ext cx="3657348" cy="134478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D8CA48FE-A991-D45A-BBDD-F2235601CC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193" y="2676555"/>
            <a:ext cx="3336188" cy="897881"/>
          </a:xfrm>
          <a:prstGeom prst="rect">
            <a:avLst/>
          </a:prstGeom>
        </p:spPr>
      </p:pic>
      <p:pic>
        <p:nvPicPr>
          <p:cNvPr id="33" name="图片 32" descr="表格">
            <a:extLst>
              <a:ext uri="{FF2B5EF4-FFF2-40B4-BE49-F238E27FC236}">
                <a16:creationId xmlns:a16="http://schemas.microsoft.com/office/drawing/2014/main" id="{3986A8E2-40B0-1308-6902-243FF17A5E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9726" y="2114819"/>
            <a:ext cx="6130533" cy="1240703"/>
          </a:xfrm>
          <a:prstGeom prst="rect">
            <a:avLst/>
          </a:prstGeom>
        </p:spPr>
      </p:pic>
      <p:pic>
        <p:nvPicPr>
          <p:cNvPr id="35" name="图片 34" descr="图示, 工程绘图&#10;&#10;AI 生成的内容可能不正确。">
            <a:extLst>
              <a:ext uri="{FF2B5EF4-FFF2-40B4-BE49-F238E27FC236}">
                <a16:creationId xmlns:a16="http://schemas.microsoft.com/office/drawing/2014/main" id="{28246DD3-6F96-BF89-C183-FDC5720236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3954" y="1266845"/>
            <a:ext cx="2513240" cy="2175641"/>
          </a:xfrm>
          <a:prstGeom prst="rect">
            <a:avLst/>
          </a:prstGeom>
        </p:spPr>
      </p:pic>
      <p:pic>
        <p:nvPicPr>
          <p:cNvPr id="37" name="图片 36" descr="图示&#10;&#10;AI 生成的内容可能不正确。">
            <a:extLst>
              <a:ext uri="{FF2B5EF4-FFF2-40B4-BE49-F238E27FC236}">
                <a16:creationId xmlns:a16="http://schemas.microsoft.com/office/drawing/2014/main" id="{D49F4E71-0F9D-C4FA-3625-77725EECCD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2120" y="4635024"/>
            <a:ext cx="2146588" cy="1958222"/>
          </a:xfrm>
          <a:prstGeom prst="rect">
            <a:avLst/>
          </a:prstGeom>
        </p:spPr>
      </p:pic>
      <p:pic>
        <p:nvPicPr>
          <p:cNvPr id="39" name="图片 38" descr="图示&#10;&#10;AI 生成的内容可能不正确。">
            <a:extLst>
              <a:ext uri="{FF2B5EF4-FFF2-40B4-BE49-F238E27FC236}">
                <a16:creationId xmlns:a16="http://schemas.microsoft.com/office/drawing/2014/main" id="{BE36FB6A-3353-27D3-72BC-AC207C9F546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08416" y="1662050"/>
            <a:ext cx="3837587" cy="900405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D3D10DE4-E840-356A-958A-68C588CCD4AE}"/>
              </a:ext>
            </a:extLst>
          </p:cNvPr>
          <p:cNvSpPr txBox="1"/>
          <p:nvPr/>
        </p:nvSpPr>
        <p:spPr>
          <a:xfrm>
            <a:off x="8421459" y="944511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环岛</a:t>
            </a:r>
          </a:p>
        </p:txBody>
      </p:sp>
    </p:spTree>
    <p:extLst>
      <p:ext uri="{BB962C8B-B14F-4D97-AF65-F5344CB8AC3E}">
        <p14:creationId xmlns:p14="http://schemas.microsoft.com/office/powerpoint/2010/main" val="393553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FC830-FFA6-A101-0D23-FC963461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4D654-1DDE-8553-E5B9-6133B715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04" y="356659"/>
            <a:ext cx="9227048" cy="440676"/>
          </a:xfrm>
        </p:spPr>
        <p:txBody>
          <a:bodyPr/>
          <a:lstStyle/>
          <a:p>
            <a:r>
              <a:rPr lang="zh-CN" altLang="en-US" sz="2800" dirty="0">
                <a:solidFill>
                  <a:srgbClr val="002060"/>
                </a:solidFill>
              </a:rPr>
              <a:t>中期目标</a:t>
            </a:r>
          </a:p>
        </p:txBody>
      </p:sp>
      <p:pic>
        <p:nvPicPr>
          <p:cNvPr id="9" name="图片 8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CD771E40-F4A2-3BB9-4E8C-126E29EB2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47" y="1082066"/>
            <a:ext cx="5825064" cy="3723264"/>
          </a:xfrm>
          <a:prstGeom prst="rect">
            <a:avLst/>
          </a:prstGeom>
        </p:spPr>
      </p:pic>
      <p:pic>
        <p:nvPicPr>
          <p:cNvPr id="11" name="图片 10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7328508-9269-73E6-D9C6-898EAEE33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1" y="1142351"/>
            <a:ext cx="5142026" cy="3429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77137C8-B3A5-9CBD-A370-39B7FBFA71D7}"/>
              </a:ext>
            </a:extLst>
          </p:cNvPr>
          <p:cNvSpPr txBox="1"/>
          <p:nvPr/>
        </p:nvSpPr>
        <p:spPr>
          <a:xfrm>
            <a:off x="311744" y="5218768"/>
            <a:ext cx="8110331" cy="134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基于标准的，自动驾驶，虚实结合，实车场地测试等关键词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整套方案技术实施的过程中，遇到了哪些具体的问题，是如何解决的都是可以写进技术交底书中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找找其他角度，软件的设计等，文件格式的转换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做的过程中，想想新的方法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角度实现</a:t>
            </a:r>
          </a:p>
        </p:txBody>
      </p:sp>
    </p:spTree>
    <p:extLst>
      <p:ext uri="{BB962C8B-B14F-4D97-AF65-F5344CB8AC3E}">
        <p14:creationId xmlns:p14="http://schemas.microsoft.com/office/powerpoint/2010/main" val="376428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5384F-FA40-E87D-4332-40223D1F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AE451-F676-5563-8105-903573E6D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04" y="356659"/>
            <a:ext cx="9227048" cy="440676"/>
          </a:xfrm>
        </p:spPr>
        <p:txBody>
          <a:bodyPr/>
          <a:lstStyle/>
          <a:p>
            <a:r>
              <a:rPr lang="zh-CN" altLang="en-US" sz="2800" dirty="0">
                <a:solidFill>
                  <a:srgbClr val="002060"/>
                </a:solidFill>
              </a:rPr>
              <a:t>近中远期目标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E5F5CF-0EC5-1374-28AA-5606EF76F6FA}"/>
              </a:ext>
            </a:extLst>
          </p:cNvPr>
          <p:cNvSpPr txBox="1"/>
          <p:nvPr/>
        </p:nvSpPr>
        <p:spPr>
          <a:xfrm>
            <a:off x="321454" y="994755"/>
            <a:ext cx="6630903" cy="2181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会遇到的困难：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每个场景会有单独的触发公式，单独的小问题（学习创新能力）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会和同济大学汽车研究院（企业）工程师的对接（沟通能力很重要）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可能会涉及到参数的一些反复修改（耐心和责任心）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分工中的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，可能会涉及到反复迭代，或者推倒重来的可能性（抗打击）</a:t>
            </a:r>
          </a:p>
        </p:txBody>
      </p:sp>
      <p:sp>
        <p:nvSpPr>
          <p:cNvPr id="3" name="文本框 26">
            <a:extLst>
              <a:ext uri="{FF2B5EF4-FFF2-40B4-BE49-F238E27FC236}">
                <a16:creationId xmlns:a16="http://schemas.microsoft.com/office/drawing/2014/main" id="{DDE5F5CF-0EC5-1374-28AA-5606EF76F6FA}"/>
              </a:ext>
            </a:extLst>
          </p:cNvPr>
          <p:cNvSpPr txBox="1"/>
          <p:nvPr/>
        </p:nvSpPr>
        <p:spPr>
          <a:xfrm>
            <a:off x="315518" y="3236795"/>
            <a:ext cx="3941788" cy="1750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分工：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培训小任务：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检查步骤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优化计算器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优化过程，尝试集成为一体化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956296-4A84-4C1D-1D15-4B024CA71452}"/>
              </a:ext>
            </a:extLst>
          </p:cNvPr>
          <p:cNvSpPr txBox="1"/>
          <p:nvPr/>
        </p:nvSpPr>
        <p:spPr>
          <a:xfrm>
            <a:off x="220517" y="5181364"/>
            <a:ext cx="4036789" cy="131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每类场景的文件生成（近期）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类，第一类直道最简单，环岛最难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线下保证能一起沟通讨论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79BF16-A3C0-5691-FD65-DE54EC781824}"/>
              </a:ext>
            </a:extLst>
          </p:cNvPr>
          <p:cNvSpPr txBox="1"/>
          <p:nvPr/>
        </p:nvSpPr>
        <p:spPr>
          <a:xfrm>
            <a:off x="4650674" y="3667682"/>
            <a:ext cx="3204853" cy="1319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整套系统的链路打通（中期）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建议与第一类作为一个人的工作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专利撰写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CA4FE0A-3BFE-1558-6C98-BD07F4703FEF}"/>
              </a:ext>
            </a:extLst>
          </p:cNvPr>
          <p:cNvSpPr txBox="1"/>
          <p:nvPr/>
        </p:nvSpPr>
        <p:spPr>
          <a:xfrm>
            <a:off x="4650673" y="5181364"/>
            <a:ext cx="5045529" cy="14546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200000"/>
              </a:lnSpc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4. </a:t>
            </a:r>
            <a:r>
              <a:rPr lang="zh-CN" altLang="en-US" dirty="0"/>
              <a:t>远期的科研目标 全体参与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0" dirty="0"/>
              <a:t>大量阅读文献</a:t>
            </a:r>
            <a:endParaRPr lang="en-US" altLang="zh-CN" b="0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0" dirty="0"/>
              <a:t>复现论文方法</a:t>
            </a:r>
            <a:endParaRPr lang="en-US" altLang="zh-CN" b="0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b="0" dirty="0"/>
              <a:t>自己的想法和创新，或尝试修改某个小的环节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315278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B08BE-F825-9C33-D9A7-FA5D8C7C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3965D4F-9BC5-572B-3F76-337A0EF1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solidFill>
                  <a:srgbClr val="1E4A7A"/>
                </a:solidFill>
                <a:ea typeface="微软雅黑" panose="020B0503020204020204" charset="-122"/>
                <a:sym typeface="微软雅黑" panose="020B0503020204020204" charset="-122"/>
              </a:rPr>
              <a:t>项目概述</a:t>
            </a:r>
            <a:endParaRPr lang="zh-CN" altLang="en-US" sz="3600" dirty="0">
              <a:solidFill>
                <a:srgbClr val="1E4A7A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BFB5EE-7977-B32A-590B-286BE8379E27}"/>
              </a:ext>
            </a:extLst>
          </p:cNvPr>
          <p:cNvSpPr/>
          <p:nvPr/>
        </p:nvSpPr>
        <p:spPr>
          <a:xfrm>
            <a:off x="8916399" y="1728375"/>
            <a:ext cx="2537387" cy="24630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08B44F3-A608-2E97-0F0D-3E89C319DB04}"/>
              </a:ext>
            </a:extLst>
          </p:cNvPr>
          <p:cNvSpPr/>
          <p:nvPr/>
        </p:nvSpPr>
        <p:spPr>
          <a:xfrm>
            <a:off x="9323547" y="2288642"/>
            <a:ext cx="1823676" cy="29070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TTC: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5D10C90-F60D-94AE-7331-DAD9EA5C80E6}"/>
              </a:ext>
            </a:extLst>
          </p:cNvPr>
          <p:cNvSpPr/>
          <p:nvPr/>
        </p:nvSpPr>
        <p:spPr>
          <a:xfrm>
            <a:off x="9323547" y="2749806"/>
            <a:ext cx="1823676" cy="29070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行人速度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D0A3C56-50CA-907D-5A15-23A9125F6B95}"/>
              </a:ext>
            </a:extLst>
          </p:cNvPr>
          <p:cNvSpPr/>
          <p:nvPr/>
        </p:nvSpPr>
        <p:spPr>
          <a:xfrm>
            <a:off x="9323547" y="3229947"/>
            <a:ext cx="1823676" cy="29070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车辆速度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5405B2D-BE47-AB00-DC04-1D23292AEA17}"/>
              </a:ext>
            </a:extLst>
          </p:cNvPr>
          <p:cNvSpPr/>
          <p:nvPr/>
        </p:nvSpPr>
        <p:spPr>
          <a:xfrm>
            <a:off x="9323547" y="3710088"/>
            <a:ext cx="1823676" cy="29070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行人加速度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FF95AF2-847C-5E73-E969-5713A5876FE8}"/>
              </a:ext>
            </a:extLst>
          </p:cNvPr>
          <p:cNvSpPr/>
          <p:nvPr/>
        </p:nvSpPr>
        <p:spPr>
          <a:xfrm>
            <a:off x="9273254" y="1863156"/>
            <a:ext cx="1823676" cy="290705"/>
          </a:xfrm>
          <a:prstGeom prst="roundRect">
            <a:avLst/>
          </a:prstGeom>
          <a:solidFill>
            <a:schemeClr val="accent2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输入量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1B0ABB5-F67F-2739-58D9-6102A5126B2B}"/>
              </a:ext>
            </a:extLst>
          </p:cNvPr>
          <p:cNvSpPr/>
          <p:nvPr/>
        </p:nvSpPr>
        <p:spPr>
          <a:xfrm>
            <a:off x="9107001" y="5739498"/>
            <a:ext cx="2346785" cy="29070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.</a:t>
            </a:r>
            <a:r>
              <a:rPr lang="en-US" altLang="zh-CN" dirty="0" err="1"/>
              <a:t>xosc</a:t>
            </a:r>
            <a:r>
              <a:rPr lang="zh-CN" altLang="en-US" dirty="0"/>
              <a:t>格式的轨迹点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155FF69-4457-6261-C2EA-9B6DC4A8E4E5}"/>
              </a:ext>
            </a:extLst>
          </p:cNvPr>
          <p:cNvSpPr/>
          <p:nvPr/>
        </p:nvSpPr>
        <p:spPr>
          <a:xfrm>
            <a:off x="9394138" y="5275555"/>
            <a:ext cx="1823676" cy="29070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轨迹示意图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07B8799-2B51-77DB-A4B9-13E6850F3BEA}"/>
              </a:ext>
            </a:extLst>
          </p:cNvPr>
          <p:cNvSpPr/>
          <p:nvPr/>
        </p:nvSpPr>
        <p:spPr>
          <a:xfrm>
            <a:off x="9346370" y="4811612"/>
            <a:ext cx="1823676" cy="290705"/>
          </a:xfrm>
          <a:prstGeom prst="roundRect">
            <a:avLst/>
          </a:prstGeom>
          <a:solidFill>
            <a:schemeClr val="accent2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输出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6A829D-2791-D5DC-C69E-4A2EB1DF89A8}"/>
              </a:ext>
            </a:extLst>
          </p:cNvPr>
          <p:cNvSpPr txBox="1"/>
          <p:nvPr/>
        </p:nvSpPr>
        <p:spPr>
          <a:xfrm>
            <a:off x="8783702" y="110698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行人鬼探头轨迹计算程序</a:t>
            </a:r>
          </a:p>
        </p:txBody>
      </p:sp>
      <p:pic>
        <p:nvPicPr>
          <p:cNvPr id="14" name="图片 1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C93C5FDA-A249-CAE4-FA1D-9F58A4195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00" y="1573435"/>
            <a:ext cx="4999234" cy="371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6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98DAB9E-7957-41E0-8924-42B00871DF4F}"/>
              </a:ext>
            </a:extLst>
          </p:cNvPr>
          <p:cNvGrpSpPr/>
          <p:nvPr/>
        </p:nvGrpSpPr>
        <p:grpSpPr>
          <a:xfrm>
            <a:off x="3068856" y="3312690"/>
            <a:ext cx="6619895" cy="729799"/>
            <a:chOff x="2547371" y="3493616"/>
            <a:chExt cx="6619895" cy="729799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F984D6A-A83C-4C36-881F-C228C50B17B6}"/>
                </a:ext>
              </a:extLst>
            </p:cNvPr>
            <p:cNvGrpSpPr/>
            <p:nvPr/>
          </p:nvGrpSpPr>
          <p:grpSpPr>
            <a:xfrm>
              <a:off x="3618763" y="3493616"/>
              <a:ext cx="4444677" cy="591300"/>
              <a:chOff x="3429666" y="5028658"/>
              <a:chExt cx="4444677" cy="59130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8523FECE-3269-4D35-9B82-91A8EDB14E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732018" y="5028658"/>
                <a:ext cx="2142325" cy="591300"/>
              </a:xfrm>
              <a:prstGeom prst="rect">
                <a:avLst/>
              </a:prstGeom>
            </p:spPr>
          </p:pic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393F652-4017-4B01-852B-3238B8B16C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429666" y="5033325"/>
                <a:ext cx="2142325" cy="586633"/>
              </a:xfrm>
              <a:prstGeom prst="rect">
                <a:avLst/>
              </a:prstGeom>
            </p:spPr>
          </p:pic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2F2345D2-1D56-4B4D-AEE7-D6A5CFD122EA}"/>
                </a:ext>
              </a:extLst>
            </p:cNvPr>
            <p:cNvGrpSpPr/>
            <p:nvPr/>
          </p:nvGrpSpPr>
          <p:grpSpPr>
            <a:xfrm>
              <a:off x="2547371" y="3946416"/>
              <a:ext cx="6619895" cy="276999"/>
              <a:chOff x="2802271" y="5580212"/>
              <a:chExt cx="6619895" cy="276999"/>
            </a:xfrm>
          </p:grpSpPr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072F535-36B2-4CB1-B98F-D54A997156CA}"/>
                  </a:ext>
                </a:extLst>
              </p:cNvPr>
              <p:cNvSpPr txBox="1"/>
              <p:nvPr/>
            </p:nvSpPr>
            <p:spPr>
              <a:xfrm>
                <a:off x="6176014" y="5580212"/>
                <a:ext cx="32461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dist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2000" b="1" i="0" u="none" strike="noStrike" cap="none" spc="0" normalizeH="0" baseline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Gabriola" panose="04040605051002020D02" pitchFamily="82" charset="0"/>
                    <a:ea typeface="宋体" panose="02010600030101010101" pitchFamily="2" charset="-122"/>
                    <a:cs typeface="Arial" panose="020B0604020202020204" pitchFamily="34" charset="0"/>
                  </a:defRPr>
                </a:lvl1pPr>
              </a:lstStyle>
              <a:p>
                <a:r>
                  <a:rPr lang="en-US" altLang="zh-CN" sz="1200" b="0" dirty="0"/>
                  <a:t>For the people, for whole world and for the same planet</a:t>
                </a:r>
                <a:endParaRPr lang="zh-CN" altLang="en-US" sz="1200" b="0" dirty="0"/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B264DD0-15BE-4F4F-ADA1-15A62727992F}"/>
                  </a:ext>
                </a:extLst>
              </p:cNvPr>
              <p:cNvSpPr txBox="1"/>
              <p:nvPr/>
            </p:nvSpPr>
            <p:spPr>
              <a:xfrm>
                <a:off x="2802271" y="5580212"/>
                <a:ext cx="324615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di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Gabriola" panose="04040605051002020D02" pitchFamily="82" charset="0"/>
                    <a:ea typeface="宋体" panose="02010600030101010101" pitchFamily="2" charset="-122"/>
                    <a:cs typeface="Arial" panose="020B0604020202020204" pitchFamily="34" charset="0"/>
                  </a:rPr>
                  <a:t>With one heart, with one dream and with the same future  </a:t>
                </a:r>
                <a:endPara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Gabriola" panose="04040605051002020D02" pitchFamily="82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6501DE3-2BCC-BDB2-F1D7-2B13F1B71AC9}"/>
              </a:ext>
            </a:extLst>
          </p:cNvPr>
          <p:cNvSpPr txBox="1"/>
          <p:nvPr/>
        </p:nvSpPr>
        <p:spPr>
          <a:xfrm>
            <a:off x="565608" y="2293306"/>
            <a:ext cx="116263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1E4A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E76D30-5498-2714-9502-32EA0E6AC676}"/>
              </a:ext>
            </a:extLst>
          </p:cNvPr>
          <p:cNvSpPr txBox="1"/>
          <p:nvPr/>
        </p:nvSpPr>
        <p:spPr>
          <a:xfrm>
            <a:off x="2978288" y="4352123"/>
            <a:ext cx="6801030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周   泉  教授</a:t>
            </a:r>
            <a:r>
              <a:rPr lang="en-US" altLang="zh-CN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博导</a:t>
            </a:r>
            <a:r>
              <a:rPr lang="en-US" altLang="zh-CN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国家优青（海外）</a:t>
            </a:r>
            <a:endParaRPr lang="en-US" altLang="zh-CN" b="1" dirty="0">
              <a:solidFill>
                <a:srgbClr val="3B3838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同济大学  汽车学院</a:t>
            </a:r>
            <a:endParaRPr lang="en-US" altLang="zh-CN" b="1" dirty="0">
              <a:solidFill>
                <a:srgbClr val="3B3838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hlinkClick r:id="rId5"/>
              </a:rPr>
              <a:t>q_zhou@Tongji.edu.cn</a:t>
            </a:r>
            <a:r>
              <a:rPr lang="en-US" altLang="zh-CN" b="1" dirty="0">
                <a:solidFill>
                  <a:srgbClr val="3B3838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672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6D2A8-3C97-ABA2-0866-27A93BAF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9F95668-53DD-26A6-1010-4A1836695243}"/>
              </a:ext>
            </a:extLst>
          </p:cNvPr>
          <p:cNvGrpSpPr/>
          <p:nvPr/>
        </p:nvGrpSpPr>
        <p:grpSpPr>
          <a:xfrm>
            <a:off x="3292976" y="460264"/>
            <a:ext cx="5860030" cy="945606"/>
            <a:chOff x="3416696" y="478679"/>
            <a:chExt cx="5860030" cy="945606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CEF971D-3CF0-467C-1B1B-948D6F700952}"/>
                </a:ext>
              </a:extLst>
            </p:cNvPr>
            <p:cNvSpPr txBox="1"/>
            <p:nvPr/>
          </p:nvSpPr>
          <p:spPr>
            <a:xfrm>
              <a:off x="3416696" y="478679"/>
              <a:ext cx="58600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normalizeH="0" baseline="0" noProof="0" dirty="0">
                  <a:ln>
                    <a:noFill/>
                  </a:ln>
                  <a:solidFill>
                    <a:srgbClr val="3B3838"/>
                  </a:solidFill>
                  <a:effectLst/>
                  <a:uLnTx/>
                  <a:uFillTx/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汇报提纲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DA085144-9701-0E5A-7992-4084C5DF2694}"/>
                </a:ext>
              </a:extLst>
            </p:cNvPr>
            <p:cNvSpPr/>
            <p:nvPr/>
          </p:nvSpPr>
          <p:spPr>
            <a:xfrm flipV="1">
              <a:off x="5372621" y="1187430"/>
              <a:ext cx="1948180" cy="236855"/>
            </a:xfrm>
            <a:prstGeom prst="triangle">
              <a:avLst/>
            </a:prstGeom>
            <a:solidFill>
              <a:srgbClr val="1E4A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A70D2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C69A9D2-09D5-BDA7-D6EE-6714254E7E36}"/>
              </a:ext>
            </a:extLst>
          </p:cNvPr>
          <p:cNvCxnSpPr/>
          <p:nvPr userDrawn="1"/>
        </p:nvCxnSpPr>
        <p:spPr>
          <a:xfrm>
            <a:off x="2974445" y="1175385"/>
            <a:ext cx="6668135" cy="0"/>
          </a:xfrm>
          <a:prstGeom prst="line">
            <a:avLst/>
          </a:prstGeom>
          <a:ln w="25400">
            <a:solidFill>
              <a:srgbClr val="1E4A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14963C2-E133-477F-0070-4ECAB5268EA6}"/>
              </a:ext>
            </a:extLst>
          </p:cNvPr>
          <p:cNvGrpSpPr/>
          <p:nvPr/>
        </p:nvGrpSpPr>
        <p:grpSpPr>
          <a:xfrm>
            <a:off x="2702285" y="2133600"/>
            <a:ext cx="7041411" cy="3261015"/>
            <a:chOff x="2495101" y="1503809"/>
            <a:chExt cx="7041411" cy="326101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6498DCA-3BDC-33A8-2468-C423FB1A5A35}"/>
                </a:ext>
              </a:extLst>
            </p:cNvPr>
            <p:cNvGrpSpPr/>
            <p:nvPr/>
          </p:nvGrpSpPr>
          <p:grpSpPr>
            <a:xfrm>
              <a:off x="2495101" y="1503809"/>
              <a:ext cx="7041411" cy="540237"/>
              <a:chOff x="1720624" y="1201794"/>
              <a:chExt cx="7041411" cy="540237"/>
            </a:xfrm>
          </p:grpSpPr>
          <p:sp>
            <p:nvSpPr>
              <p:cNvPr id="22" name="矩形 2">
                <a:extLst>
                  <a:ext uri="{FF2B5EF4-FFF2-40B4-BE49-F238E27FC236}">
                    <a16:creationId xmlns:a16="http://schemas.microsoft.com/office/drawing/2014/main" id="{A8019B7E-3661-5547-F9AE-E0AAAA7B2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4042" y="1201794"/>
                <a:ext cx="6137993" cy="540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微软雅黑" panose="020B0503020204020204" charset="-122"/>
                  </a:rPr>
                  <a:t>软件定义汽车发展背景</a:t>
                </a:r>
              </a:p>
            </p:txBody>
          </p:sp>
          <p:sp>
            <p:nvSpPr>
              <p:cNvPr id="24" name="矩形 6">
                <a:extLst>
                  <a:ext uri="{FF2B5EF4-FFF2-40B4-BE49-F238E27FC236}">
                    <a16:creationId xmlns:a16="http://schemas.microsoft.com/office/drawing/2014/main" id="{6EE4E704-FF88-E8D0-EFB6-46E53D3A49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0624" y="1202031"/>
                <a:ext cx="523384" cy="54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I</a:t>
                </a:r>
                <a:endParaRPr lang="zh-CN" alt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058F17E-34C3-F185-8D02-D4CC5FA0EE6A}"/>
                </a:ext>
              </a:extLst>
            </p:cNvPr>
            <p:cNvGrpSpPr/>
            <p:nvPr/>
          </p:nvGrpSpPr>
          <p:grpSpPr>
            <a:xfrm>
              <a:off x="2495101" y="2410735"/>
              <a:ext cx="7041411" cy="540237"/>
              <a:chOff x="1720624" y="1201794"/>
              <a:chExt cx="7041411" cy="540237"/>
            </a:xfrm>
          </p:grpSpPr>
          <p:sp>
            <p:nvSpPr>
              <p:cNvPr id="18" name="矩形 2">
                <a:extLst>
                  <a:ext uri="{FF2B5EF4-FFF2-40B4-BE49-F238E27FC236}">
                    <a16:creationId xmlns:a16="http://schemas.microsoft.com/office/drawing/2014/main" id="{EA6B98AF-B429-85CA-63D1-27834E588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4042" y="1201794"/>
                <a:ext cx="6137993" cy="540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微软雅黑" panose="020B0503020204020204" charset="-122"/>
                  </a:rPr>
                  <a:t>软件定义汽车关键技术</a:t>
                </a:r>
              </a:p>
            </p:txBody>
          </p:sp>
          <p:sp>
            <p:nvSpPr>
              <p:cNvPr id="21" name="矩形 6">
                <a:extLst>
                  <a:ext uri="{FF2B5EF4-FFF2-40B4-BE49-F238E27FC236}">
                    <a16:creationId xmlns:a16="http://schemas.microsoft.com/office/drawing/2014/main" id="{28911890-02C3-6E7F-E95D-933AC0C586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0624" y="1202031"/>
                <a:ext cx="523384" cy="54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微软雅黑" panose="020B0503020204020204" charset="-122"/>
                  </a:rPr>
                  <a:t>II</a:t>
                </a:r>
                <a:endParaRPr lang="zh-CN" alt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701A158-843B-EC9C-1083-CDE90727FC02}"/>
                </a:ext>
              </a:extLst>
            </p:cNvPr>
            <p:cNvGrpSpPr/>
            <p:nvPr/>
          </p:nvGrpSpPr>
          <p:grpSpPr>
            <a:xfrm>
              <a:off x="2495101" y="3317661"/>
              <a:ext cx="7041411" cy="540237"/>
              <a:chOff x="1720624" y="1201794"/>
              <a:chExt cx="7041411" cy="540237"/>
            </a:xfrm>
          </p:grpSpPr>
          <p:sp>
            <p:nvSpPr>
              <p:cNvPr id="16" name="矩形 2">
                <a:extLst>
                  <a:ext uri="{FF2B5EF4-FFF2-40B4-BE49-F238E27FC236}">
                    <a16:creationId xmlns:a16="http://schemas.microsoft.com/office/drawing/2014/main" id="{A7499430-446D-C99F-53A4-05091AA82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4042" y="1201794"/>
                <a:ext cx="6137993" cy="540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dirty="0">
                    <a:solidFill>
                      <a:schemeClr val="bg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微软雅黑" panose="020B0503020204020204" charset="-122"/>
                  </a:rPr>
                  <a:t>同济大学的研发实践</a:t>
                </a:r>
              </a:p>
            </p:txBody>
          </p:sp>
          <p:sp>
            <p:nvSpPr>
              <p:cNvPr id="17" name="矩形 6">
                <a:extLst>
                  <a:ext uri="{FF2B5EF4-FFF2-40B4-BE49-F238E27FC236}">
                    <a16:creationId xmlns:a16="http://schemas.microsoft.com/office/drawing/2014/main" id="{95B87D7D-2AA0-AEE2-826C-0E83999F99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0624" y="1202031"/>
                <a:ext cx="523384" cy="540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微软雅黑" panose="020B0503020204020204" charset="-122"/>
                  </a:rPr>
                  <a:t>III</a:t>
                </a:r>
                <a:endParaRPr lang="zh-CN" alt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EDC6C88-C837-D4B5-5A9B-28E4FAE7DCB0}"/>
                </a:ext>
              </a:extLst>
            </p:cNvPr>
            <p:cNvGrpSpPr/>
            <p:nvPr/>
          </p:nvGrpSpPr>
          <p:grpSpPr>
            <a:xfrm>
              <a:off x="2495101" y="4224587"/>
              <a:ext cx="7041411" cy="540237"/>
              <a:chOff x="1720624" y="1201794"/>
              <a:chExt cx="7041411" cy="540237"/>
            </a:xfrm>
          </p:grpSpPr>
          <p:sp>
            <p:nvSpPr>
              <p:cNvPr id="13" name="矩形 2">
                <a:extLst>
                  <a:ext uri="{FF2B5EF4-FFF2-40B4-BE49-F238E27FC236}">
                    <a16:creationId xmlns:a16="http://schemas.microsoft.com/office/drawing/2014/main" id="{C43986B9-B0A6-A526-513C-7621E674B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4042" y="1201794"/>
                <a:ext cx="6137993" cy="540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dirty="0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微软雅黑" panose="020B0503020204020204" charset="-122"/>
                  </a:rPr>
                  <a:t>未来技术思考和展望</a:t>
                </a:r>
              </a:p>
            </p:txBody>
          </p:sp>
          <p:sp>
            <p:nvSpPr>
              <p:cNvPr id="15" name="矩形 6">
                <a:extLst>
                  <a:ext uri="{FF2B5EF4-FFF2-40B4-BE49-F238E27FC236}">
                    <a16:creationId xmlns:a16="http://schemas.microsoft.com/office/drawing/2014/main" id="{971CDE37-0ED9-2CE3-1A94-899D41A0C8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20624" y="1202031"/>
                <a:ext cx="523384" cy="540000"/>
              </a:xfrm>
              <a:prstGeom prst="rect">
                <a:avLst/>
              </a:prstGeom>
              <a:solidFill>
                <a:srgbClr val="1E4A7A"/>
              </a:solidFill>
              <a:ln>
                <a:noFill/>
              </a:ln>
            </p:spPr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微软雅黑" panose="020B0503020204020204" charset="-122"/>
                  </a:rPr>
                  <a:t>IV</a:t>
                </a:r>
                <a:endParaRPr lang="zh-CN" altLang="en-US" sz="2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67240080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约线条商务风第二季度工作总结PPT模板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3AD2F63E84B7744A81A62DA4CE85D4BA" ma:contentTypeVersion="0" ma:contentTypeDescription="新建文档。" ma:contentTypeScope="" ma:versionID="92a570ffc8d50b3ad6de023d88e573d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e9039b69fe3d1f6128df478e1d0a9e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A4D287-C39D-45E9-8BE8-D67E4D7402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5EB43DA-7A47-4766-9FBB-21B8F0E259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29C91A-7958-4E54-88BF-235CADE3414B}">
  <ds:schemaRefs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42782</TotalTime>
  <Words>538</Words>
  <Application>Microsoft Office PowerPoint</Application>
  <PresentationFormat>宽屏</PresentationFormat>
  <Paragraphs>78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Calibri</vt:lpstr>
      <vt:lpstr>Arial</vt:lpstr>
      <vt:lpstr>微软雅黑</vt:lpstr>
      <vt:lpstr>黑体</vt:lpstr>
      <vt:lpstr>Corbel Light</vt:lpstr>
      <vt:lpstr>微软雅黑</vt:lpstr>
      <vt:lpstr>Wingdings</vt:lpstr>
      <vt:lpstr>等线</vt:lpstr>
      <vt:lpstr>等线 Light</vt:lpstr>
      <vt:lpstr>Gabriola</vt:lpstr>
      <vt:lpstr>自定义设计方案</vt:lpstr>
      <vt:lpstr>PowerPoint 演示文稿</vt:lpstr>
      <vt:lpstr>项目概述</vt:lpstr>
      <vt:lpstr>近中远期目标</vt:lpstr>
      <vt:lpstr>近期目标细化</vt:lpstr>
      <vt:lpstr>中期目标</vt:lpstr>
      <vt:lpstr>近中远期目标</vt:lpstr>
      <vt:lpstr>项目概述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蓝色简约线条商务风第二季度工作总结PPT模板</dc:title>
  <dc:creator>Administrator</dc:creator>
  <cp:lastModifiedBy>马 依宁</cp:lastModifiedBy>
  <cp:revision>1407</cp:revision>
  <cp:lastPrinted>2021-10-13T08:10:13Z</cp:lastPrinted>
  <dcterms:created xsi:type="dcterms:W3CDTF">2020-02-02T06:50:00Z</dcterms:created>
  <dcterms:modified xsi:type="dcterms:W3CDTF">2026-01-17T09:21:34Z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  <property fmtid="{D5CDD505-2E9C-101B-9397-08002B2CF9AE}" pid="3" name="ContentTypeId">
    <vt:lpwstr>0x0101003AD2F63E84B7744A81A62DA4CE85D4BA</vt:lpwstr>
  </property>
</Properties>
</file>